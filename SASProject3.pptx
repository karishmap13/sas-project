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383" r:id="rId6"/>
    <p:sldId id="391" r:id="rId7"/>
    <p:sldId id="397" r:id="rId8"/>
    <p:sldId id="413" r:id="rId9"/>
    <p:sldId id="408" r:id="rId10"/>
    <p:sldId id="407" r:id="rId11"/>
    <p:sldId id="414" r:id="rId12"/>
    <p:sldId id="417" r:id="rId13"/>
    <p:sldId id="411" r:id="rId14"/>
    <p:sldId id="406" r:id="rId15"/>
    <p:sldId id="415" r:id="rId16"/>
    <p:sldId id="416" r:id="rId17"/>
    <p:sldId id="412" r:id="rId18"/>
    <p:sldId id="418" r:id="rId19"/>
    <p:sldId id="404" r:id="rId20"/>
    <p:sldId id="39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298" autoAdjust="0"/>
  </p:normalViewPr>
  <p:slideViewPr>
    <p:cSldViewPr snapToGrid="0">
      <p:cViewPr>
        <p:scale>
          <a:sx n="72" d="100"/>
          <a:sy n="72" d="100"/>
        </p:scale>
        <p:origin x="1104" y="14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12/5/2024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43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44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p-value is 0.01, comparing it with 0.05, 0.01 &lt; 0.05, we accept the alternative hypothesis – there is a difference in FBS levels among the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782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SAS</a:t>
            </a:r>
            <a:br>
              <a:rPr lang="en-US" dirty="0"/>
            </a:br>
            <a:r>
              <a:rPr lang="en-US" dirty="0"/>
              <a:t>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E961B-B5E5-0FCD-CD2F-D06E1BF0D8C4}"/>
              </a:ext>
            </a:extLst>
          </p:cNvPr>
          <p:cNvSpPr txBox="1"/>
          <p:nvPr/>
        </p:nvSpPr>
        <p:spPr>
          <a:xfrm>
            <a:off x="6309903" y="4320073"/>
            <a:ext cx="355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KARISHMA DAXESH PAREKH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290" y="2883159"/>
            <a:ext cx="11756571" cy="4124130"/>
          </a:xfrm>
        </p:spPr>
        <p:txBody>
          <a:bodyPr tIns="45720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study was conducted to determine whether a “DRUG A” helps to reduce fasting sugar level. There are 3400 patients were enrolled for this study. They were randomly assigned to one of three treatment groups: Low-Drug A, High-Drug A and Placebo. After 10 weeks their reading were taken. Patients were placed into three different sites – 1, 2 and 3.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Variables: Patient-ID, Age, State, Site, Length of Stay, Total Charges, </a:t>
            </a:r>
            <a:r>
              <a:rPr lang="en-US" dirty="0" err="1"/>
              <a:t>Fasting_BS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-761818"/>
            <a:ext cx="10873740" cy="1680205"/>
          </a:xfrm>
        </p:spPr>
        <p:txBody>
          <a:bodyPr/>
          <a:lstStyle/>
          <a:p>
            <a:r>
              <a:rPr lang="en-US" dirty="0"/>
              <a:t>Manipulating the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177" y="984733"/>
            <a:ext cx="7810500" cy="1680205"/>
          </a:xfrm>
        </p:spPr>
        <p:txBody>
          <a:bodyPr>
            <a:normAutofit/>
          </a:bodyPr>
          <a:lstStyle/>
          <a:p>
            <a:r>
              <a:rPr lang="en-US" dirty="0"/>
              <a:t>Two CSV excel sheets were saved as tab delimited file format.</a:t>
            </a:r>
          </a:p>
          <a:p>
            <a:r>
              <a:rPr lang="en-US" dirty="0" err="1"/>
              <a:t>Test_Scores</a:t>
            </a:r>
            <a:r>
              <a:rPr lang="en-US" dirty="0"/>
              <a:t> variable was named as </a:t>
            </a:r>
            <a:r>
              <a:rPr lang="en-US" dirty="0" err="1"/>
              <a:t>Fasting_BS</a:t>
            </a:r>
            <a:endParaRPr lang="en-US" dirty="0"/>
          </a:p>
          <a:p>
            <a:r>
              <a:rPr lang="en-US" dirty="0"/>
              <a:t>Missing values were deleted.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89C2BE5-3BBB-912B-D316-47279DC6C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2714119"/>
            <a:ext cx="9388654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E96CD19-9F73-9738-5DFD-699ABF702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811" y="914182"/>
            <a:ext cx="9434378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58D85-BBC4-1C34-BC2E-B4B0DB071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15" y="188537"/>
            <a:ext cx="6621684" cy="3035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45E6FA-E2A4-DF5D-ADDB-9C2BBBD03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554" y="433622"/>
            <a:ext cx="2873570" cy="2545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6BF44A-05E6-BCAA-D243-B19251F46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15" y="3711749"/>
            <a:ext cx="6286940" cy="2792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C20FA9-1225-A230-581D-C45D58FAB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044" y="4033326"/>
            <a:ext cx="3124976" cy="247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7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296" y="5875257"/>
            <a:ext cx="7936230" cy="669199"/>
          </a:xfrm>
        </p:spPr>
        <p:txBody>
          <a:bodyPr anchor="b">
            <a:normAutofit/>
          </a:bodyPr>
          <a:lstStyle/>
          <a:p>
            <a:r>
              <a:rPr lang="en-US" sz="3600" dirty="0"/>
              <a:t>Merging the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11885"/>
            <a:ext cx="4194927" cy="2093473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1800" dirty="0"/>
              <a:t>Sorting both the datasets with PROC SORT by the variable Patient-ID.</a:t>
            </a:r>
          </a:p>
          <a:p>
            <a:pPr marL="457200" indent="-457200">
              <a:buAutoNum type="arabicPeriod"/>
            </a:pPr>
            <a:r>
              <a:rPr lang="en-US" sz="1800" dirty="0"/>
              <a:t>Using Horizontal Merge to merge the datasets with unique identifier – Patient ID. </a:t>
            </a:r>
          </a:p>
          <a:p>
            <a:endParaRPr lang="en-US" sz="1800" dirty="0"/>
          </a:p>
        </p:txBody>
      </p:sp>
      <p:pic>
        <p:nvPicPr>
          <p:cNvPr id="6" name="Content Placeholder 5" descr="A close-up of a math equation&#10;&#10;Description automatically generated">
            <a:extLst>
              <a:ext uri="{FF2B5EF4-FFF2-40B4-BE49-F238E27FC236}">
                <a16:creationId xmlns:a16="http://schemas.microsoft.com/office/drawing/2014/main" id="{70875295-F9AC-4F2F-B017-A38EBAE7B6B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624" y="153287"/>
            <a:ext cx="3789575" cy="1664812"/>
          </a:xfr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852338-C088-B1EA-DDDE-AE68844E2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42" y="153287"/>
            <a:ext cx="3666457" cy="16858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F15DFC-F31F-82DC-1FB5-D7FC64FBC8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5740"/>
          <a:stretch/>
        </p:blipFill>
        <p:spPr>
          <a:xfrm>
            <a:off x="107805" y="2105358"/>
            <a:ext cx="5567131" cy="18365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06ADCD-07CE-93EF-E91E-B9DB24BCA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9124" y="2536379"/>
            <a:ext cx="6125071" cy="26682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5C6BE2-4BF6-42E1-EB5A-218E57412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33" y="4114419"/>
            <a:ext cx="6125071" cy="99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Sampling - SRS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674591F-D905-595A-688A-E8733D31A18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03885" y="402405"/>
            <a:ext cx="5404206" cy="241464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191572-039C-C679-B4F8-2508923E2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47" y="3076236"/>
            <a:ext cx="4150424" cy="33896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A7AE5-580E-DA0E-100E-A00541806DDA}"/>
              </a:ext>
            </a:extLst>
          </p:cNvPr>
          <p:cNvSpPr/>
          <p:nvPr/>
        </p:nvSpPr>
        <p:spPr>
          <a:xfrm>
            <a:off x="1524000" y="5091953"/>
            <a:ext cx="2689412" cy="331694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AABA-CB63-8601-2674-5BAB21476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47" y="141141"/>
            <a:ext cx="7936230" cy="735552"/>
          </a:xfrm>
        </p:spPr>
        <p:txBody>
          <a:bodyPr/>
          <a:lstStyle/>
          <a:p>
            <a:r>
              <a:rPr lang="en-US" dirty="0"/>
              <a:t>Distribution of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A97FA2-4D36-90C2-6B62-CF5B18BB67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66254" y="876693"/>
            <a:ext cx="4549719" cy="5719857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7F2D-E580-5256-31D7-B92D43403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394" y="804355"/>
            <a:ext cx="1920206" cy="58072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482451-D390-E62B-D6B3-B77621312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021" y="1303518"/>
            <a:ext cx="5326320" cy="45153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9087C2-6BDB-CEAC-59B4-E3E8C20ADD54}"/>
              </a:ext>
            </a:extLst>
          </p:cNvPr>
          <p:cNvSpPr/>
          <p:nvPr/>
        </p:nvSpPr>
        <p:spPr>
          <a:xfrm>
            <a:off x="545432" y="2775284"/>
            <a:ext cx="3561347" cy="235284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138DA2-6C87-0700-74C8-1E802199021F}"/>
              </a:ext>
            </a:extLst>
          </p:cNvPr>
          <p:cNvSpPr/>
          <p:nvPr/>
        </p:nvSpPr>
        <p:spPr>
          <a:xfrm>
            <a:off x="851338" y="4146331"/>
            <a:ext cx="1103586" cy="756745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0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823A-3EF7-3859-70B3-683A7EE7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4807080"/>
            <a:ext cx="10778932" cy="1380760"/>
          </a:xfrm>
        </p:spPr>
        <p:txBody>
          <a:bodyPr/>
          <a:lstStyle/>
          <a:p>
            <a:pPr algn="ctr"/>
            <a:r>
              <a:rPr lang="en-US" dirty="0"/>
              <a:t>Number of patients enrolled in each  state under the three categories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E00E82-1532-E92C-2DB4-412124698F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332921" y="670160"/>
            <a:ext cx="4859079" cy="362735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1B7F04-96F9-AFE7-BDDC-6421FC6F5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92" y="2050920"/>
            <a:ext cx="6878550" cy="17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7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C9F5-A83F-B034-2148-551AA887B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574" y="118836"/>
            <a:ext cx="11909426" cy="653750"/>
          </a:xfrm>
        </p:spPr>
        <p:txBody>
          <a:bodyPr/>
          <a:lstStyle/>
          <a:p>
            <a:r>
              <a:rPr lang="en-US" sz="3200" dirty="0"/>
              <a:t>Research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14BE5-FB96-EBC5-FB72-21A05641AA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2574" y="1065787"/>
            <a:ext cx="10454556" cy="5419853"/>
          </a:xfrm>
        </p:spPr>
        <p:txBody>
          <a:bodyPr/>
          <a:lstStyle/>
          <a:p>
            <a:r>
              <a:rPr lang="en-US" u="sng" dirty="0">
                <a:solidFill>
                  <a:schemeClr val="accent3">
                    <a:lumMod val="50000"/>
                  </a:schemeClr>
                </a:solidFill>
              </a:rPr>
              <a:t>MAIN OBJECTIVE:</a:t>
            </a:r>
          </a:p>
          <a:p>
            <a:r>
              <a:rPr lang="en-US" dirty="0">
                <a:solidFill>
                  <a:srgbClr val="C00000"/>
                </a:solidFill>
              </a:rPr>
              <a:t>To know if there is a difference in fasting blood sugar levels between the groups – High, Low and Placebo. </a:t>
            </a:r>
          </a:p>
          <a:p>
            <a:r>
              <a:rPr lang="en-US" u="sng" dirty="0">
                <a:solidFill>
                  <a:schemeClr val="accent3">
                    <a:lumMod val="50000"/>
                  </a:schemeClr>
                </a:solidFill>
              </a:rPr>
              <a:t>FRAMING THE HYPOTHESIS: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Null Hypothesis: There is no difference in Fasting BS levels between the High, Low and Placebo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Alternative Hypothesis: There is a difference in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Fasting_BS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between High, Low and Placebo groups.</a:t>
            </a:r>
          </a:p>
          <a:p>
            <a:r>
              <a:rPr lang="en-US" u="sng" dirty="0">
                <a:solidFill>
                  <a:schemeClr val="accent3">
                    <a:lumMod val="50000"/>
                  </a:schemeClr>
                </a:solidFill>
              </a:rPr>
              <a:t>TEST USED: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ONE-WAY ANOVA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One independent variable [Groups] with more than two categories [High, Low, Placebo]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Assumption made: The data is normally distributed. To check for data distribution, using the PROC UNIVARIATE PROCEDURE. </a:t>
            </a:r>
          </a:p>
          <a:p>
            <a:endParaRPr lang="en-US" b="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23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70" y="202019"/>
            <a:ext cx="5708531" cy="1164862"/>
          </a:xfrm>
        </p:spPr>
        <p:txBody>
          <a:bodyPr/>
          <a:lstStyle/>
          <a:p>
            <a:r>
              <a:rPr lang="en-US" dirty="0"/>
              <a:t>Interpreting the result for ONE-WAY ANOVA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D6F431-10C6-6202-B5D4-36F277E0C6A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101584" y="3327990"/>
            <a:ext cx="5911701" cy="2056333"/>
          </a:xfr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F66EB08-F293-B57A-0CD0-14DFAF5DC59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794" r="794"/>
          <a:stretch/>
        </p:blipFill>
        <p:spPr/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355265-052B-F8BA-38F4-CA81F34E2926}"/>
              </a:ext>
            </a:extLst>
          </p:cNvPr>
          <p:cNvSpPr/>
          <p:nvPr/>
        </p:nvSpPr>
        <p:spPr>
          <a:xfrm>
            <a:off x="11238614" y="4104167"/>
            <a:ext cx="510363" cy="574159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5389A-2803-B262-CF18-9794DC217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736" y="531467"/>
            <a:ext cx="7047982" cy="56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1C3C4-E1FE-72FC-C68F-1B201E36A08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46589" y="170122"/>
            <a:ext cx="11098822" cy="607628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42F6AF-4C41-09F0-9D18-E2F1E820DDED}"/>
              </a:ext>
            </a:extLst>
          </p:cNvPr>
          <p:cNvSpPr/>
          <p:nvPr/>
        </p:nvSpPr>
        <p:spPr>
          <a:xfrm>
            <a:off x="3423684" y="4295553"/>
            <a:ext cx="5752214" cy="350875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5" y="-114921"/>
            <a:ext cx="5063490" cy="1271188"/>
          </a:xfrm>
        </p:spPr>
        <p:txBody>
          <a:bodyPr/>
          <a:lstStyle/>
          <a:p>
            <a:r>
              <a:rPr lang="en-US" sz="2800" dirty="0"/>
              <a:t>Understanding the relation between Age &amp; Fasting Blood Sugar levels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C804E1-4BF6-2A37-DBF1-9CD563B5D6D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64835" y="3583817"/>
            <a:ext cx="5518282" cy="2508309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EA68E3-16ED-4144-0174-C3C9FFF88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117" y="967193"/>
            <a:ext cx="6700395" cy="49236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F231225-1CF2-CAD6-4DC1-41B2D0135E70}"/>
              </a:ext>
            </a:extLst>
          </p:cNvPr>
          <p:cNvSpPr/>
          <p:nvPr/>
        </p:nvSpPr>
        <p:spPr>
          <a:xfrm>
            <a:off x="7091916" y="4040529"/>
            <a:ext cx="3732028" cy="1594883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0C60C-5E84-1C6A-2921-C9812D20E3B5}"/>
              </a:ext>
            </a:extLst>
          </p:cNvPr>
          <p:cNvSpPr txBox="1"/>
          <p:nvPr/>
        </p:nvSpPr>
        <p:spPr>
          <a:xfrm>
            <a:off x="64835" y="1318437"/>
            <a:ext cx="48793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Null hypothesis: There is no co-relation between Age and Fasting Blood Sugar levels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Alternative hypothesis: There is a co-relation between Age and Fasting Blood Sugar levels</a:t>
            </a:r>
          </a:p>
        </p:txBody>
      </p:sp>
    </p:spTree>
    <p:extLst>
      <p:ext uri="{BB962C8B-B14F-4D97-AF65-F5344CB8AC3E}">
        <p14:creationId xmlns:p14="http://schemas.microsoft.com/office/powerpoint/2010/main" val="3842527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89475C-4FBD-B2F0-121F-D1AAB0B1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5" y="2466754"/>
            <a:ext cx="5162430" cy="1653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52B0FB-2314-C7EA-96D8-9D603F1BCE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08"/>
          <a:stretch/>
        </p:blipFill>
        <p:spPr>
          <a:xfrm>
            <a:off x="5924226" y="467833"/>
            <a:ext cx="6164992" cy="59239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DE7507-77FA-425C-2C4A-82948A086440}"/>
              </a:ext>
            </a:extLst>
          </p:cNvPr>
          <p:cNvSpPr txBox="1"/>
          <p:nvPr/>
        </p:nvSpPr>
        <p:spPr>
          <a:xfrm>
            <a:off x="248455" y="1148316"/>
            <a:ext cx="49016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Frequency of </a:t>
            </a:r>
            <a:r>
              <a:rPr lang="en-US" sz="2800" b="1" dirty="0" err="1">
                <a:solidFill>
                  <a:schemeClr val="bg1"/>
                </a:solidFill>
              </a:rPr>
              <a:t>Total_Charges</a:t>
            </a:r>
            <a:r>
              <a:rPr lang="en-US" sz="2800" b="1" dirty="0">
                <a:solidFill>
                  <a:schemeClr val="bg1"/>
                </a:solidFill>
              </a:rPr>
              <a:t> in the sample</a:t>
            </a:r>
          </a:p>
        </p:txBody>
      </p:sp>
    </p:spTree>
    <p:extLst>
      <p:ext uri="{BB962C8B-B14F-4D97-AF65-F5344CB8AC3E}">
        <p14:creationId xmlns:p14="http://schemas.microsoft.com/office/powerpoint/2010/main" val="199644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04" y="283469"/>
            <a:ext cx="10972800" cy="157431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5180" y="2381693"/>
            <a:ext cx="11440634" cy="3892302"/>
          </a:xfrm>
        </p:spPr>
        <p:txBody>
          <a:bodyPr/>
          <a:lstStyle/>
          <a:p>
            <a:pPr lvl="1"/>
            <a:r>
              <a:rPr lang="en-US" sz="2400" dirty="0"/>
              <a:t>There is a mean difference in blood sugar fasting levels between the groups – High, Low and Placebo.</a:t>
            </a:r>
          </a:p>
          <a:p>
            <a:pPr lvl="1"/>
            <a:r>
              <a:rPr lang="en-US" sz="2400" dirty="0"/>
              <a:t>The group comparison (by SCHEFFE’s) shows that Low dose – Placebo group has  a significant mean difference.</a:t>
            </a:r>
          </a:p>
          <a:p>
            <a:pPr lvl="1"/>
            <a:r>
              <a:rPr lang="en-US" sz="2400" dirty="0"/>
              <a:t>We understand that there is a weak positive co-relation between Age and Fasting Blood Sugar levels, but p-value &lt;.0001 indicating that we accept the alternative hypothesis – there is a co-relation between the two variables.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{89E2C0CC-4766-4FB8-A224-85E225C50D8F}tf78853419_win32</Template>
  <TotalTime>844</TotalTime>
  <Words>463</Words>
  <Application>Microsoft Office PowerPoint</Application>
  <PresentationFormat>Widescreen</PresentationFormat>
  <Paragraphs>48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Franklin Gothic Book</vt:lpstr>
      <vt:lpstr>Franklin Gothic Demi</vt:lpstr>
      <vt:lpstr>Times New Roman</vt:lpstr>
      <vt:lpstr>Custom</vt:lpstr>
      <vt:lpstr>SAS Project</vt:lpstr>
      <vt:lpstr>DATASET</vt:lpstr>
      <vt:lpstr>Manipulating the data</vt:lpstr>
      <vt:lpstr>PowerPoint Presentation</vt:lpstr>
      <vt:lpstr>PowerPoint Presentation</vt:lpstr>
      <vt:lpstr>Merging the data</vt:lpstr>
      <vt:lpstr>Sampling - SRS</vt:lpstr>
      <vt:lpstr>Distribution of data</vt:lpstr>
      <vt:lpstr>Number of patients enrolled in each  state under the three categories</vt:lpstr>
      <vt:lpstr>Research Questions</vt:lpstr>
      <vt:lpstr>Interpreting the result for ONE-WAY ANOVA</vt:lpstr>
      <vt:lpstr>PowerPoint Presentation</vt:lpstr>
      <vt:lpstr>PowerPoint Presentation</vt:lpstr>
      <vt:lpstr>Understanding the relation between Age &amp; Fasting Blood Sugar levels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Karishma Parekh</dc:creator>
  <cp:lastModifiedBy>Karishma Parekh</cp:lastModifiedBy>
  <cp:revision>6</cp:revision>
  <dcterms:created xsi:type="dcterms:W3CDTF">2024-12-06T04:46:32Z</dcterms:created>
  <dcterms:modified xsi:type="dcterms:W3CDTF">2024-12-06T18:50:56Z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